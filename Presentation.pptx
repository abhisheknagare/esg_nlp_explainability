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Arial Black"/>
      <p:regular r:id="rId29"/>
    </p:embeddedFont>
    <p:embeddedFont>
      <p:font typeface="Lexe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5254E5-E79E-4AA0-BE57-1D179E32DB49}">
  <a:tblStyle styleId="{9A5254E5-E79E-4AA0-BE57-1D179E32DB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alBlac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exend-bold.fntdata"/><Relationship Id="rId30" Type="http://schemas.openxmlformats.org/officeDocument/2006/relationships/font" Target="fonts/Lexen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ecea4040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ecea4040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986056fe6_4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986056fe6_4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7a3c76e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7a3c76e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86056fe6_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86056fe6_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86056fe6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86056fe6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ecea4040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ecea4040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86056fe6_4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86056fe6_4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86056fe6_4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86056fe6_4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86056fe6_4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86056fe6_4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86056fe6_4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986056fe6_4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986056fe6_4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986056fe6_4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86056fe6_4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86056fe6_4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86056fe6_4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986056fe6_4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86056fe6_4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986056fe6_4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986056fe6_4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986056fe6_4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ecea4040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ecea4040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986056fe6_4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986056fe6_4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7a3c76e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7a3c76e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986056fe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986056fe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86056fe6_4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86056fe6_4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ecea4040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ecea4040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- Photo w/ Title and Content">
  <p:cSld name="2 Column - Photo w/ Title and Conte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442" y="4632722"/>
            <a:ext cx="737365" cy="46159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>
            <p:ph idx="2" type="pic"/>
          </p:nvPr>
        </p:nvSpPr>
        <p:spPr>
          <a:xfrm>
            <a:off x="459486" y="274320"/>
            <a:ext cx="4320600" cy="4258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919472" y="274320"/>
            <a:ext cx="3765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990000"/>
              </a:buClr>
              <a:buSzPts val="1500"/>
              <a:buNone/>
              <a:defRPr b="1" i="0" sz="1500">
                <a:solidFill>
                  <a:srgbClr val="990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4919472" y="975598"/>
            <a:ext cx="3765300" cy="35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LCYgogogo/ESG-datase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80">
                <a:latin typeface="Lexend"/>
                <a:ea typeface="Lexend"/>
                <a:cs typeface="Lexend"/>
                <a:sym typeface="Lexend"/>
              </a:rPr>
              <a:t>Benchmarking Post-Hoc Explainability for</a:t>
            </a:r>
            <a:endParaRPr sz="258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80">
                <a:latin typeface="Lexend"/>
                <a:ea typeface="Lexend"/>
                <a:cs typeface="Lexend"/>
                <a:sym typeface="Lexend"/>
              </a:rPr>
              <a:t>ESG Text Classification with DistilBERT:</a:t>
            </a:r>
            <a:endParaRPr sz="258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8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SHAP</a:t>
            </a:r>
            <a:r>
              <a:rPr lang="en" sz="258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 sz="258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LIME</a:t>
            </a:r>
            <a:r>
              <a:rPr lang="en" sz="2580"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" sz="258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Attention</a:t>
            </a:r>
            <a:endParaRPr sz="2580">
              <a:solidFill>
                <a:srgbClr val="E0666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4048224"/>
            <a:ext cx="85206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exend"/>
                <a:ea typeface="Lexend"/>
                <a:cs typeface="Lexend"/>
                <a:sym typeface="Lexend"/>
              </a:rPr>
              <a:t>Group 44</a:t>
            </a:r>
            <a:endParaRPr b="1"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Abhishek Nagare, Ameya Mahesh Bhalgat, Ekta Jichkar,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exend"/>
                <a:ea typeface="Lexend"/>
                <a:cs typeface="Lexend"/>
                <a:sym typeface="Lexend"/>
              </a:rPr>
              <a:t>Jennifer (Yu-Ching) Huang, Mayuresh Mohnalkar, </a:t>
            </a:r>
            <a:r>
              <a:rPr lang="en" sz="1300">
                <a:latin typeface="Lexend"/>
                <a:ea typeface="Lexend"/>
                <a:cs typeface="Lexend"/>
                <a:sym typeface="Lexend"/>
              </a:rPr>
              <a:t>Rashi Mahavir Solanki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Motivation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017725"/>
            <a:ext cx="8520600" cy="38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Explaining ESG Models Is Hard – and Important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ESG reports are long, technical, and often strategically written.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NLP models now help analysts scan them and flag potentially “substantive” claims.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when a model labels a sentence as substantive ESG evidence, regulators and investors still ask: </a:t>
            </a:r>
            <a:r>
              <a:rPr i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“Which words actually convinced the model?”</a:t>
            </a:r>
            <a:endParaRPr i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have popular tools like SHAP, LIME, and attention maps, but we don’t yet know which explanations we can trust for ESG text.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project directly stress-tests these explanation methods on a real ESG classification task.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Research Question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4072500" cy="37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Setup: 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AutoNum type="alphaUcPeriod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Fix the Model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AutoNum type="alphaUcPeriod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the Explanations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deliberately freeze everything except the explainer: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ESG dataset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fine-tuned DistilBERT classifier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explanation methods: 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○"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○"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LIME 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1" marL="914400" marR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300"/>
              <a:buFont typeface="Lexend"/>
              <a:buChar char="○"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attention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210824" y="1152475"/>
            <a:ext cx="44901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we ask three questions:</a:t>
            </a:r>
            <a:endParaRPr b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Faithfulness</a:t>
            </a:r>
            <a:b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an explainer says a token is “important”,</a:t>
            </a:r>
            <a:b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does deleting that token actually change the model’s prediction?</a:t>
            </a:r>
            <a:endParaRPr i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Agreement</a:t>
            </a:r>
            <a:b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all three explainers look at the same sentence, do they highlight the same evidence or different pieces of text?</a:t>
            </a:r>
            <a:endParaRPr i="1"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300"/>
              <a:buFont typeface="Lexend"/>
              <a:buChar char="●"/>
            </a:pPr>
            <a: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Practicality</a:t>
            </a:r>
            <a:br>
              <a:rPr b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Considering runtime, stability, and visual clarity,</a:t>
            </a:r>
            <a:b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method would an ESG analyst realistically want in their workflow?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Dataset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92475" y="1054850"/>
            <a:ext cx="5024400" cy="39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Dataset from Github - </a:t>
            </a:r>
            <a:r>
              <a:rPr lang="en" sz="14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3"/>
              </a:rPr>
              <a:t>https://github.com/LCYgogogo/ESG-dataset</a:t>
            </a: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Corporate ESG disclosures from Chinese sustainability reports (Wind Information)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8,467 English-translated sentences, all experiments use the English text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sentence has two labels: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Topic: 36 ESG categories, organized into E / S / G via an ESGTree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Quality: Quantitative, Qualitative, or Irrelevant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sentences are qualitative, reflecting narrative and promotional ESG reporting styles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" name="Google Shape;80;p17" title="Screenshot 2025-11-24 212120.png"/>
          <p:cNvPicPr preferRelativeResize="0"/>
          <p:nvPr/>
        </p:nvPicPr>
        <p:blipFill rotWithShape="1">
          <a:blip r:embed="rId4">
            <a:alphaModFix/>
          </a:blip>
          <a:srcRect b="0" l="2419" r="0" t="0"/>
          <a:stretch/>
        </p:blipFill>
        <p:spPr>
          <a:xfrm>
            <a:off x="5624613" y="221125"/>
            <a:ext cx="3234426" cy="219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Screenshot 2025-11-24 212140.png"/>
          <p:cNvPicPr preferRelativeResize="0"/>
          <p:nvPr/>
        </p:nvPicPr>
        <p:blipFill rotWithShape="1">
          <a:blip r:embed="rId5">
            <a:alphaModFix/>
          </a:blip>
          <a:srcRect b="2037" l="0" r="0" t="0"/>
          <a:stretch/>
        </p:blipFill>
        <p:spPr>
          <a:xfrm>
            <a:off x="5610925" y="2420695"/>
            <a:ext cx="3261801" cy="2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ESGTr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725" y="299625"/>
            <a:ext cx="5678751" cy="48438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656475" y="36800"/>
            <a:ext cx="2099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Topic Labels</a:t>
            </a:r>
            <a:endParaRPr b="1"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Preprocessing Pipeline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43175"/>
            <a:ext cx="4620300" cy="3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Removed 483 irrelevant sentences </a:t>
            </a:r>
            <a:b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</a:t>
            </a: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7,988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ESG-relevant samples remain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Mapped quality labels to a binary task:</a:t>
            </a:r>
            <a:b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Quantitative → Substantive (1)</a:t>
            </a:r>
            <a:b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Qualitative → Vague (0)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Lower-cased text, removed 127 duplicates, kept stopwords for interpretability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Created stratified </a:t>
            </a: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 / 15 / 15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train–dev–test splits with consistent class ratios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Applied inverse-frequency class weights to handle label imbalance in training 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9" title="Screenshot 2025-11-20 at 16.47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849" y="650250"/>
            <a:ext cx="3094450" cy="261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 title="Screenshot 2025-11-20 at 16.49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075" y="3354021"/>
            <a:ext cx="3900449" cy="12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23050" y="31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Models &amp;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Explainability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 Methods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883925"/>
            <a:ext cx="8429700" cy="3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Classifier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438014" y="304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{9A5254E5-E79E-4AA0-BE57-1D179E32DB49}</a:tableStyleId>
              </a:tblPr>
              <a:tblGrid>
                <a:gridCol w="1834250"/>
                <a:gridCol w="2027700"/>
                <a:gridCol w="4681350"/>
              </a:tblGrid>
              <a:tr h="26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How we get token importance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Model-agnostic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Text masker + small dev background → Shapley scores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LIME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Model-agnostic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~200 perturbed samples → sparse local linear model, top-10 tokens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1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Attention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Model-internal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CLS→token attention (final layer, heads averaged); used as correlational, not causal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" name="Google Shape;103;p20"/>
          <p:cNvGraphicFramePr/>
          <p:nvPr/>
        </p:nvGraphicFramePr>
        <p:xfrm>
          <a:off x="422856" y="1290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{9A5254E5-E79E-4AA0-BE57-1D179E32DB49}</a:tableStyleId>
              </a:tblPr>
              <a:tblGrid>
                <a:gridCol w="1819625"/>
                <a:gridCol w="2011525"/>
                <a:gridCol w="4689450"/>
              </a:tblGrid>
              <a:tr h="32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Task: 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Baseline: 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Main model: 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82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Substantive (1) vs Vague (0)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TF–IDF + Logistic Regression (uni/bi-grams)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DistilBERT-base-uncased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class-weighted loss, max length 128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Lexend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best checkpoint reused for all explanations</a:t>
                      </a:r>
                      <a:endParaRPr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2621380"/>
            <a:ext cx="8429700" cy="3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Methods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Evaluation Protocol</a:t>
            </a:r>
            <a:endParaRPr/>
          </a:p>
        </p:txBody>
      </p:sp>
      <p:graphicFrame>
        <p:nvGraphicFramePr>
          <p:cNvPr id="110" name="Google Shape;110;p21"/>
          <p:cNvGraphicFramePr/>
          <p:nvPr/>
        </p:nvGraphicFramePr>
        <p:xfrm>
          <a:off x="386300" y="105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{9A5254E5-E79E-4AA0-BE57-1D179E32DB49}</a:tableStyleId>
              </a:tblPr>
              <a:tblGrid>
                <a:gridCol w="8587475"/>
              </a:tblGrid>
              <a:tr h="939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Faithfulness: </a:t>
                      </a:r>
                      <a:endParaRPr b="1"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delete top-k tokens (k ∈ {1,2,3,5}) → measure drop in predicted probability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89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Agreement: </a:t>
                      </a:r>
                      <a:endParaRPr b="1"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Spearman ρ between token rankings (SHAP, LIME, attention)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89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Plausibility: </a:t>
                      </a:r>
                      <a:endParaRPr b="1"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10–12 visually inspected sentences, side-by-side explanations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89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Runtime: </a:t>
                      </a:r>
                      <a:endParaRPr b="1"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time per instance on CPU-only setup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Initial Results – Classifier &amp; Early Explanations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" sz="1729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Classifier Performance</a:t>
            </a:r>
            <a:endParaRPr b="1" sz="1729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" name="Google Shape;117;p22" title="Screenshot 2025-11-24 2222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312" y="2646125"/>
            <a:ext cx="5197176" cy="18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Screenshot 2025-11-24 2229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9500" y="1152474"/>
            <a:ext cx="5132802" cy="130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369675" y="1550575"/>
            <a:ext cx="32535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</a:t>
            </a: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DistilBERT improves macro-F1 by +0.09 over TF–IDF.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Per-class: baseline often misclassifies substantive sentences; DistilBERT is much more balanced (substantive F1 ~0.87 vs 0.74).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Initial Results – Classifier &amp; Early Explanations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" name="Google Shape;125;p23" title="Screenshot 2025-11-24 2244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125"/>
            <a:ext cx="4075350" cy="367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title="Screenshot 2025-11-24 2244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9450" y="1170125"/>
            <a:ext cx="4075351" cy="363946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1766350" y="4809600"/>
            <a:ext cx="55701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Confusion matrices for TF–IDF baseline (left) and DistilBERT (right)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Initial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Results – Classifier &amp; Early Explanations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428100" y="2783350"/>
            <a:ext cx="8287800" cy="21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Qualitative example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– “We aim to reduce carbon emissions by 30% by 2030”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SHAP: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“reduce”, “30%”, “2030”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LIME: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phrase “reduce carbon emissions”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Attention: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“carbon”, “emissions”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→ Explanations focus on </a:t>
            </a: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different but complementary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cues; SHAP appears most causally aligned with the model.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428200" y="1152475"/>
            <a:ext cx="82878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Early Explanation Findings 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(50 balanced test samples)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Faithfulness (probability drop after deleting top tokens):</a:t>
            </a:r>
            <a:b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≈ 0.12 &gt; LIME ≈ 0.09 &gt; Attention ≈ 0.07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Char char="●"/>
            </a:pP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Agreement (Spearman ρ between token rankings):</a:t>
            </a:r>
            <a:b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ρ(SHAP, LIME)=0.42, ρ(SHAP, Attn)=0.35, ρ(LIME, Attn)=0.31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Findin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gs -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Global Token Importance with SHAP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25" title="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175" y="1226175"/>
            <a:ext cx="4890248" cy="32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/>
        </p:nvSpPr>
        <p:spPr>
          <a:xfrm>
            <a:off x="528575" y="1165850"/>
            <a:ext cx="3537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Y-axis:</a:t>
            </a:r>
            <a:r>
              <a:rPr lang="en" sz="1300">
                <a:solidFill>
                  <a:schemeClr val="dk1"/>
                </a:solidFill>
              </a:rPr>
              <a:t> most influential words/bigrams across ~30 sentences.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Each dot:</a:t>
            </a:r>
            <a:r>
              <a:rPr lang="en" sz="1300">
                <a:solidFill>
                  <a:schemeClr val="dk1"/>
                </a:solidFill>
              </a:rPr>
              <a:t> one sentence; more dots → word appears in many examples.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X-axis (SHAP value):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– Positive → pushes prediction toward </a:t>
            </a:r>
            <a:r>
              <a:rPr b="1" lang="en" sz="1300">
                <a:solidFill>
                  <a:schemeClr val="dk1"/>
                </a:solidFill>
              </a:rPr>
              <a:t>substantive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– Negative → pushes toward </a:t>
            </a:r>
            <a:r>
              <a:rPr b="1" lang="en" sz="1300">
                <a:solidFill>
                  <a:schemeClr val="dk1"/>
                </a:solidFill>
              </a:rPr>
              <a:t>vague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see </a:t>
            </a:r>
            <a:r>
              <a:rPr b="1" lang="en" sz="1300">
                <a:solidFill>
                  <a:schemeClr val="dk1"/>
                </a:solidFill>
              </a:rPr>
              <a:t>clear quantitative cues</a:t>
            </a:r>
            <a:r>
              <a:rPr lang="en" sz="1300">
                <a:solidFill>
                  <a:schemeClr val="dk1"/>
                </a:solidFill>
              </a:rPr>
              <a:t> (numbers, amounts, time horizons, etc.) with strong positive SHAP values.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Words near zero have little impact → good separation between signal and noise.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Findings - Global LIME Weights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28575" y="1165850"/>
            <a:ext cx="3537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48" name="Google Shape;148;p26" title="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575" y="1170125"/>
            <a:ext cx="4773025" cy="31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Findings - Global Attention Tokens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528575" y="1165850"/>
            <a:ext cx="3537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155" name="Google Shape;155;p27" title="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925" y="1471225"/>
            <a:ext cx="4773025" cy="273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Results – How Faithful Are the Explanations?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28" title="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200" y="1161750"/>
            <a:ext cx="6365975" cy="376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Results – Faithfulness, Agreement &amp; Behavior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75" y="1152475"/>
            <a:ext cx="91440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Deletion tests: remove top-3 tokens each method says are “most important” → measure drop in predicted probability (Δp).</a:t>
            </a:r>
            <a:endParaRPr sz="1100"/>
          </a:p>
        </p:txBody>
      </p:sp>
      <p:sp>
        <p:nvSpPr>
          <p:cNvPr id="168" name="Google Shape;168;p29"/>
          <p:cNvSpPr txBox="1"/>
          <p:nvPr/>
        </p:nvSpPr>
        <p:spPr>
          <a:xfrm>
            <a:off x="160775" y="3649800"/>
            <a:ext cx="42987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Higher Δp ⇒ explainer found </a:t>
            </a:r>
            <a:r>
              <a:rPr b="1" lang="en" sz="1100">
                <a:solidFill>
                  <a:schemeClr val="dk1"/>
                </a:solidFill>
              </a:rPr>
              <a:t>truly causal tokens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SHAP</a:t>
            </a:r>
            <a:r>
              <a:rPr lang="en" sz="1100">
                <a:solidFill>
                  <a:schemeClr val="dk1"/>
                </a:solidFill>
              </a:rPr>
              <a:t> consistently causes the largest confidence drop → </a:t>
            </a:r>
            <a:r>
              <a:rPr b="1" lang="en" sz="1100">
                <a:solidFill>
                  <a:schemeClr val="dk1"/>
                </a:solidFill>
              </a:rPr>
              <a:t>best aligns with the model’s real decision boundary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LIME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attention</a:t>
            </a:r>
            <a:r>
              <a:rPr lang="en" sz="1100">
                <a:solidFill>
                  <a:schemeClr val="dk1"/>
                </a:solidFill>
              </a:rPr>
              <a:t> sometimes remove crucial words (Δp≈1) but, on average, are </a:t>
            </a:r>
            <a:r>
              <a:rPr b="1" lang="en" sz="1100">
                <a:solidFill>
                  <a:schemeClr val="dk1"/>
                </a:solidFill>
              </a:rPr>
              <a:t>less reliable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69" name="Google Shape;169;p29" title="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75" y="1553925"/>
            <a:ext cx="4457500" cy="213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 title="b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9375" y="1509725"/>
            <a:ext cx="4593499" cy="208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/>
          <p:nvPr/>
        </p:nvSpPr>
        <p:spPr>
          <a:xfrm>
            <a:off x="4572000" y="3649800"/>
            <a:ext cx="4403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Correlations are </a:t>
            </a:r>
            <a:r>
              <a:rPr b="1" lang="en" sz="1100">
                <a:solidFill>
                  <a:schemeClr val="dk1"/>
                </a:solidFill>
              </a:rPr>
              <a:t>moderate, not high</a:t>
            </a:r>
            <a:r>
              <a:rPr lang="en" sz="1100">
                <a:solidFill>
                  <a:schemeClr val="dk1"/>
                </a:solidFill>
              </a:rPr>
              <a:t> → methods often highlight </a:t>
            </a:r>
            <a:r>
              <a:rPr b="1" lang="en" sz="1100">
                <a:solidFill>
                  <a:schemeClr val="dk1"/>
                </a:solidFill>
              </a:rPr>
              <a:t>different tokens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SHAP and LIME</a:t>
            </a:r>
            <a:r>
              <a:rPr lang="en" sz="1100">
                <a:solidFill>
                  <a:schemeClr val="dk1"/>
                </a:solidFill>
              </a:rPr>
              <a:t> agree most with each other;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attention is the </a:t>
            </a:r>
            <a:r>
              <a:rPr b="1" lang="en" sz="1100">
                <a:solidFill>
                  <a:schemeClr val="dk1"/>
                </a:solidFill>
              </a:rPr>
              <a:t>outlier</a:t>
            </a:r>
            <a:r>
              <a:rPr lang="en" sz="1100">
                <a:solidFill>
                  <a:schemeClr val="dk1"/>
                </a:solidFill>
              </a:rPr>
              <a:t> in many sentences.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three methods offer </a:t>
            </a:r>
            <a:r>
              <a:rPr b="1" lang="en" sz="1100">
                <a:solidFill>
                  <a:schemeClr val="dk1"/>
                </a:solidFill>
              </a:rPr>
              <a:t>complementary but uneven</a:t>
            </a:r>
            <a:r>
              <a:rPr lang="en" sz="1100">
                <a:solidFill>
                  <a:schemeClr val="dk1"/>
                </a:solidFill>
              </a:rPr>
              <a:t> views of the same prediction.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Conclusion – Which Explanations Should We Trust?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Faithfulness: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gives the most faithful explanations (highest Δp).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LIME and attention are less causally aligned with the model.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Agreement: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Only moderate agreement (ρ ≤ 0.42).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&amp; LIME are closer to each other than either is to attention.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Practicality (what to use in ESG workflows):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Attention – Easiest: built-in, almost free to compute, but weakest as an explanation.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LIME – Flexible but noisy: intuitive phrases, yet sensitive to configuration and randomness.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</a:pPr>
            <a:r>
              <a:rPr lang="en" sz="1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 – Most trustworthy: more setup and runtime, but stable and most faithful to the model’s reasoning.</a:t>
            </a:r>
            <a:endParaRPr sz="1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Conclusion – Which Explanations Should We Trust?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Bottom line:</a:t>
            </a:r>
            <a:r>
              <a:rPr lang="en" sz="2800">
                <a:solidFill>
                  <a:schemeClr val="dk1"/>
                </a:solidFill>
              </a:rPr>
              <a:t> When explaining ESG text with DistilBERT, </a:t>
            </a:r>
            <a:r>
              <a:rPr b="1" lang="en" sz="2800">
                <a:solidFill>
                  <a:schemeClr val="dk1"/>
                </a:solidFill>
              </a:rPr>
              <a:t>SHAP is the most reliable explainer</a:t>
            </a:r>
            <a:r>
              <a:rPr lang="en" sz="2800">
                <a:solidFill>
                  <a:schemeClr val="dk1"/>
                </a:solidFill>
              </a:rPr>
              <a:t>, with LIME and attention best used as </a:t>
            </a:r>
            <a:r>
              <a:rPr b="1" lang="en" sz="2800">
                <a:solidFill>
                  <a:schemeClr val="dk1"/>
                </a:solidFill>
              </a:rPr>
              <a:t>supporting, not primary, explanations.</a:t>
            </a:r>
            <a:endParaRPr sz="3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Next Step &amp; Future Work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 on larger ESG datasets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Test methods across diverse document types (e.g., 10-K filings, Bloomberg articles, Twitter posts) to assess generalizability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Incorporate human evaluation studies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Validate explanation methods with ESG domain experts using metrics like faithfulness scores and human agreement rates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Explore integrated explainability approaches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Combine multiple techniques (e.g., SHAP + Attention weights, LIME + Integrated Gradients) for more robust explanations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Lexend"/>
              <a:buAutoNum type="arabicPeriod"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Extend to multi-label ESG classification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Apply methods to multi-category predictions (e.g., simultaneous E, S, G labels) and analyze feature interactions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Team Contributions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5" name="Google Shape;195;p33"/>
          <p:cNvGraphicFramePr/>
          <p:nvPr/>
        </p:nvGraphicFramePr>
        <p:xfrm>
          <a:off x="448750" y="108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{9A5254E5-E79E-4AA0-BE57-1D179E32DB49}</a:tableStyleId>
              </a:tblPr>
              <a:tblGrid>
                <a:gridCol w="3337975"/>
                <a:gridCol w="4670975"/>
              </a:tblGrid>
              <a:tr h="47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Member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Responsibilities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Abhishek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Faithfulness experiments, presentation slides</a:t>
                      </a:r>
                      <a:endParaRPr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Ameya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Agreement metrics, runtime analysis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Ekta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Project proposal, progress report (idea reiterated), presentation slides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Mayuresh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Attention extraction &amp; visualization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Rashi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TF-IDF + Logistic Regression,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DistilBERT model training &amp; tuning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Jennifer (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Yu-Ching)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roject topic ideas, written report, presentation slides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Borg, L. L., Kautzmann, G., &amp; Mostaghim, S. (2024). </a:t>
            </a:r>
            <a:r>
              <a:rPr i="1" lang="en" sz="1100">
                <a:solidFill>
                  <a:schemeClr val="dk1"/>
                </a:solidFill>
              </a:rPr>
              <a:t>Engagement-focused benchmarking for explainable AI</a:t>
            </a:r>
            <a:r>
              <a:rPr lang="en" sz="1100">
                <a:solidFill>
                  <a:schemeClr val="dk1"/>
                </a:solidFill>
              </a:rPr>
              <a:t>. engrXiv Preprints.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Dmejchal, V., Ulman, M., Hlavac, J., &amp; Katina, M. (2023). </a:t>
            </a:r>
            <a:r>
              <a:rPr i="1" lang="en" sz="1100">
                <a:solidFill>
                  <a:schemeClr val="dk1"/>
                </a:solidFill>
              </a:rPr>
              <a:t>Text classification using explainable convolutions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Applied Sciences, 15</a:t>
            </a:r>
            <a:r>
              <a:rPr lang="en" sz="1100">
                <a:solidFill>
                  <a:schemeClr val="dk1"/>
                </a:solidFill>
              </a:rPr>
              <a:t>(13), 7329.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Dhaini, M., Hussain, K. Z., Zaradoukas, E., &amp; Kasneci, G. (2025). </a:t>
            </a:r>
            <a:r>
              <a:rPr i="1" lang="en" sz="1100">
                <a:solidFill>
                  <a:schemeClr val="dk1"/>
                </a:solidFill>
              </a:rPr>
              <a:t>EvalxNLP: A framework for benchmarking post-hoc explainability methods on NLP models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arXiv:2505.01238.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Galli, S., Vinci, G., &amp; Moro, G. (2025). </a:t>
            </a:r>
            <a:r>
              <a:rPr i="1" lang="en" sz="1100">
                <a:solidFill>
                  <a:schemeClr val="dk1"/>
                </a:solidFill>
              </a:rPr>
              <a:t>Fine-tuning LLMs for personalized explanation generation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arXiv:2508.09231.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Gao, T., Fisch, A., &amp; Chen, D. (2020). </a:t>
            </a:r>
            <a:r>
              <a:rPr i="1" lang="en" sz="1100">
                <a:solidFill>
                  <a:schemeClr val="dk1"/>
                </a:solidFill>
              </a:rPr>
              <a:t>Making pre-trained language models better few-shot learners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arXiv:2009.13295.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Suli, E., &amp; Levy, O. (2024). </a:t>
            </a:r>
            <a:r>
              <a:rPr i="1" lang="en" sz="1100">
                <a:solidFill>
                  <a:schemeClr val="dk1"/>
                </a:solidFill>
              </a:rPr>
              <a:t>LLM explainability via faithfulness-aware controllable perturbation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arXiv:2405.08468.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Wang, L., Zhang, Z., Sun, K., Yu, W., Zhu, Y., Hong, Y., Su, D., Bengio, S., &amp; Fu, J. (2025). </a:t>
            </a:r>
            <a:r>
              <a:rPr i="1" lang="en" sz="1100">
                <a:solidFill>
                  <a:schemeClr val="dk1"/>
                </a:solidFill>
              </a:rPr>
              <a:t>Intrinsic explainability in transformer-based language models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arXiv:2507.18932v1.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Wang, X., Wang, S.-M., &amp; Roth, D. (2023). </a:t>
            </a:r>
            <a:r>
              <a:rPr i="1" lang="en" sz="1100">
                <a:solidFill>
                  <a:schemeClr val="dk1"/>
                </a:solidFill>
              </a:rPr>
              <a:t>Augmenting language models with long-term memory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arXiv:2303.15190.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Xu, R., Pang, B., &amp; Yang, Y. (2025). </a:t>
            </a:r>
            <a:r>
              <a:rPr i="1" lang="en" sz="1100">
                <a:solidFill>
                  <a:schemeClr val="dk1"/>
                </a:solidFill>
              </a:rPr>
              <a:t>OpenPrompt 2.0: An open-source framework for prompt-learning-based NLP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i="1" lang="en" sz="1100">
                <a:solidFill>
                  <a:schemeClr val="dk1"/>
                </a:solidFill>
              </a:rPr>
              <a:t>arXiv preprint</a:t>
            </a:r>
            <a:r>
              <a:rPr lang="en" sz="1100">
                <a:solidFill>
                  <a:schemeClr val="dk1"/>
                </a:solidFill>
              </a:rPr>
              <a:t> arXiv:2506.13917.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1991850"/>
            <a:ext cx="85206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Thank you!</a:t>
            </a:r>
            <a:br>
              <a:rPr lang="en">
                <a:latin typeface="Lexend"/>
                <a:ea typeface="Lexend"/>
                <a:cs typeface="Lexend"/>
                <a:sym typeface="Lexend"/>
              </a:rPr>
            </a:br>
            <a:r>
              <a:rPr lang="en">
                <a:latin typeface="Lexend"/>
                <a:ea typeface="Lexend"/>
                <a:cs typeface="Lexend"/>
                <a:sym typeface="Lexend"/>
              </a:rPr>
              <a:t>Q &amp; 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